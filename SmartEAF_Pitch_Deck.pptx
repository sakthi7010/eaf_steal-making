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1"/>
    <p:sldId id="271" r:id="rId22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slag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kin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12191695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315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2836"/>
                </a:solidFill>
              </a:rPr>
              <a:t>SmartEAF™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Electric Arc Furnace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Digital Twin &amp; Process Optimizer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</a:rPr>
              <a:t>A first-principles static + dynamic model, operator console and decision-support platform that helps steelmakers cut energy, raise yield and lift productivity — validated against plant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</a:rPr>
              <a:t>Extractmet Private Limited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83"/>
                </a:solidFill>
              </a:rPr>
              <a:t>Deep-tech metallurgical solutions  ·  process modelling · decarbonisation · AI-assisted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EAF is powerful — and hard to run well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91640"/>
            <a:ext cx="82296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73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Energy-intensive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130552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The most energy-hungry unit in the shop. A few % of kWh/t, across millions of tonnes, is a very large cost and CO₂ line item.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691640"/>
            <a:ext cx="82296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73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Tightly coupled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130552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Electrical, thermal and chemical phenomena all interact — intuition alone is an unreliable guide to the best practice.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69080"/>
            <a:ext cx="82296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50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Poorly observable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4507992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The interior is hostile to sensors; bath temperature and carbon arrive late and intermittently. Much know-how stays tacit.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4069080"/>
            <a:ext cx="82296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50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Variable inputs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4507992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Scrap quality, DRI metallisation and gangue, and charge mix swing heat-to-heat — set-points that worked yesterday may not today.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</a:rPr>
              <a:t>WHAT IT COSTS TO OPERATE ON HEURISTICS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Recoverable value is left in every heat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8CAE4"/>
                </a:solidFill>
              </a:rPr>
              <a:t>10–40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kWh/t recoverable energy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4D2"/>
                </a:solidFill>
              </a:rPr>
              <a:t>better chemical-energy use, foaming &amp; fewer delays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8CAE4"/>
                </a:solidFill>
              </a:rPr>
              <a:t>1–3%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044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metallic yield at stake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40690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4D2"/>
                </a:solidFill>
              </a:rPr>
              <a:t>controlled bath oxidation &amp; slag practice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8CAE4"/>
                </a:solidFill>
              </a:rPr>
              <a:t>5–10%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tap-to-tap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0690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4D2"/>
                </a:solidFill>
              </a:rPr>
              <a:t>shorter, more repeatable heats = more throughput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8CAE4"/>
                </a:solidFill>
              </a:rPr>
              <a:t>↓ CO₂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8972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and electrode/refractory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40690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4D2"/>
                </a:solidFill>
              </a:rPr>
              <a:t>lower emissions and consumables per tonne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0"/>
                </a:solidFill>
              </a:rPr>
              <a:t>SmartEAF turns sparse measurements and first-principles physics into a continuous, quantitative picture of the heat — so those gains become visible and actionable.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SmartEAF™ — a digital twin of your furnace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836"/>
                </a:solidFill>
              </a:rPr>
              <a:t>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3232C"/>
                </a:solidFill>
              </a:rPr>
              <a:t>A validated software model of the EAF that runs a per-heat static mass &amp; energy balance and a second-by-second dynamic simulation of the whole heat.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3232C"/>
                </a:solidFill>
              </a:rPr>
              <a:t>It predicts temperature, chemistry, slag, energy and losses over time — and tells the operator what to change to hit aim safely and cheaply.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232C"/>
                </a:solidFill>
              </a:rPr>
              <a:t>Runs fully offline in a browser, as a desktop console, or on-prem next to Level-2 — no cloud dependency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83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764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836"/>
                </a:solidFill>
              </a:rPr>
              <a:t>Static balance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130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83"/>
                </a:solidFill>
              </a:rPr>
              <a:t>plan the heat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71576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89864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898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836"/>
                </a:solidFill>
              </a:rPr>
              <a:t>Dynamic twin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83"/>
                </a:solidFill>
              </a:rPr>
              <a:t>see the trajectory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83133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014216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142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3995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836"/>
                </a:solidFill>
              </a:rPr>
              <a:t>Guidance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4361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83"/>
                </a:solidFill>
              </a:rPr>
              <a:t>act on set-points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94690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5129784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297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51114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836"/>
                </a:solidFill>
              </a:rPr>
              <a:t>Sensitivity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54772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83"/>
                </a:solidFill>
              </a:rPr>
              <a:t>find the best levers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MODEL CAPABILITIES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Rigorous physics, not a black box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27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C283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</a:rPr>
              <a:t>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836"/>
                </a:solidFill>
              </a:rPr>
              <a:t>Mass &amp; energy balance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2C"/>
                </a:solidFill>
              </a:rPr>
              <a:t>Elemental balances (C, Si, Mn, P, Fe, Cu…) and a full energy balance at every time step.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1627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C28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</a:rPr>
              <a:t>⚙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836"/>
                </a:solidFill>
              </a:rPr>
              <a:t>Thermochemistry &amp; kinetics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2240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2C"/>
                </a:solidFill>
              </a:rPr>
              <a:t>Decarburisation (O₂- &amp; diffusion-limited), Si/Mn/P oxidation, FeO formation &amp; reduction, post-combustion — as rate laws toward equilibrium.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1627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C2836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</a:rPr>
              <a:t>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836"/>
                </a:solidFill>
              </a:rPr>
              <a:t>Heat &amp; mass transfer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12480" y="2240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2C"/>
                </a:solidFill>
              </a:rPr>
              <a:t>Arc-to-bath transfer, burner input, immersion melting, mass-transfer-limited refining.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C283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9044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</a:rPr>
              <a:t>⚙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836"/>
                </a:solidFill>
              </a:rPr>
              <a:t>Scrap melting &amp; dissolution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2C"/>
                </a:solidFill>
              </a:rPr>
              <a:t>Continuous heating/melting split; lime dissolution builds basicity over time.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3703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9432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C2836"/>
          </a:solidFill>
          <a:ln/>
        </p:spPr>
      </p:sp>
      <p:sp>
        <p:nvSpPr>
          <p:cNvPr id="28" name="Text 26"/>
          <p:cNvSpPr/>
          <p:nvPr/>
        </p:nvSpPr>
        <p:spPr>
          <a:xfrm>
            <a:off x="4599432" y="39044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</a:rPr>
              <a:t>⚙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6636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836"/>
                </a:solidFill>
              </a:rPr>
              <a:t>Refractory heat loss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17720" y="457200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2C"/>
                </a:solidFill>
              </a:rPr>
              <a:t>Coupled conduction–convection–radiation through working/safety/insulation/shell layers; shell &amp; interface temperatures.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38160" y="3703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94192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C2836"/>
          </a:solidFill>
          <a:ln/>
        </p:spPr>
      </p:sp>
      <p:sp>
        <p:nvSpPr>
          <p:cNvPr id="33" name="Text 31"/>
          <p:cNvSpPr/>
          <p:nvPr/>
        </p:nvSpPr>
        <p:spPr>
          <a:xfrm>
            <a:off x="8394192" y="39044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</a:rPr>
              <a:t>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836"/>
                </a:solidFill>
              </a:rPr>
              <a:t>Slag &amp; foaming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412480" y="457200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2C"/>
                </a:solidFill>
              </a:rPr>
              <a:t>Slag chemistry, basicity and a CO-driven foaming index that modulates arc-transfer efficiency.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</a:rPr>
              <a:t>THE OPERATOR CONSOLE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 interactive reactor twin on the desk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4572000"/>
          </a:xfrm>
          <a:prstGeom prst="roundRect">
            <a:avLst>
              <a:gd name="adj" fmla="val 1600"/>
            </a:avLst>
          </a:prstGeom>
          <a:solidFill>
            <a:srgbClr val="0A1620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pic>
        <p:nvPicPr>
          <p:cNvPr id="6" name="Image 0" descr="/home/claude/webout/gui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66751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AE4"/>
                </a:solidFill>
              </a:rPr>
              <a:t>Live cross-section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0" y="2286000"/>
            <a:ext cx="3977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E2EA"/>
                </a:solidFill>
              </a:rPr>
              <a:t>Interactive reactor schematic with electrodes, arc, bath, foaming slag, refractory, water panels, O₂ lance, carbon injection and EBT tap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E2EA"/>
                </a:solidFill>
              </a:rPr>
              <a:t>Live readouts: tap temperature, carbon, basicity, FeO, foam, shell temperature and weights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E2EA"/>
                </a:solidFill>
              </a:rPr>
              <a:t>Separate Static and Dynamic sections, an editable parameter panel with help on every input, and an event log with timings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2EA"/>
                </a:solidFill>
              </a:rPr>
              <a:t>Two front-ends: an offline web app and a native Python desktop console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PROCESS TRAJECTORIES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Second-by-second process insight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7772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pic>
        <p:nvPicPr>
          <p:cNvPr id="7" name="Image 0" descr="/home/claude/deck_plots/1_process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498080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325880"/>
            <a:ext cx="3108960" cy="4892040"/>
          </a:xfrm>
          <a:prstGeom prst="roundRect">
            <a:avLst>
              <a:gd name="adj" fmla="val 2353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325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836"/>
                </a:solidFill>
              </a:rPr>
              <a:t>Every heat, visualised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2520" y="2057400"/>
            <a:ext cx="2743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Melting &amp; slag build-up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Bath, solid &amp; shell temperatures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C / Si / Mn / P refining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Slag evolution &amp; basicity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Energy &amp; foaming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Power-in vs heat-loss breakdown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Validated against literature-typical plant data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7772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pic>
        <p:nvPicPr>
          <p:cNvPr id="7" name="Image 0" descr="/home/claude/deck_plots/2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498080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325880"/>
            <a:ext cx="3108960" cy="48920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325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Reference: Industry-X (modern ~130 t UHP)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3252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2C"/>
                </a:solidFill>
              </a:rPr>
              <a:t>The model reproduces the KPIs steelmakers care about, within published ranges: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3"/>
                </a:solidFill>
              </a:rPr>
              <a:t>Electrical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332720" y="2880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2836"/>
                </a:solidFill>
              </a:rPr>
              <a:t>~446 kWh/t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34107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3"/>
                </a:solidFill>
              </a:rPr>
              <a:t>Total energy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332720" y="34107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2836"/>
                </a:solidFill>
              </a:rPr>
              <a:t>~567 kWh/t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32520" y="39410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3"/>
                </a:solidFill>
              </a:rPr>
              <a:t>Tap-to-tap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332720" y="39410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2836"/>
                </a:solidFill>
              </a:rPr>
              <a:t>~52 min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32520" y="44714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3"/>
                </a:solidFill>
              </a:rPr>
              <a:t>Yield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332720" y="44714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2836"/>
                </a:solidFill>
              </a:rPr>
              <a:t>~97%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732520" y="5001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3"/>
                </a:solidFill>
              </a:rPr>
              <a:t>Basicity B2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332720" y="5001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2836"/>
                </a:solidFill>
              </a:rPr>
              <a:t>~2.1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732520" y="5532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3"/>
                </a:solidFill>
              </a:rPr>
              <a:t>O₂ use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33272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2836"/>
                </a:solidFill>
              </a:rPr>
              <a:t>~35 Nm³/t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73252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383"/>
                </a:solidFill>
              </a:rPr>
              <a:t>All customer references are anonymised as Industry-X.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ENGINEERING DEPTH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Furnace design &amp; refractory heat transfer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pic>
        <p:nvPicPr>
          <p:cNvPr id="7" name="Image 0" descr="/home/claude/deck_plots/4_refractory_the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103327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32C"/>
                </a:solidFill>
              </a:rPr>
              <a:t>Coupled conduction through the multi-layer lining, plus external convection and radiation, gives shell and interface temperatures and a real heat-loss breakdown — configurable to your refractory thickness and properties.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</a:rPr>
              <a:t>BENEFITS &amp; RETURN ON INVESTMENT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Pays for itself in a single 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933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</a:rPr>
              <a:t>Lower energy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</a:rPr>
              <a:t>Cut kWh/t via better foaming, chemical-energy use and fewer delays.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9933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</a:rPr>
              <a:t>Higher yield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</a:rPr>
              <a:t>Control bath oxidation and slag to recover iron units.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19933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</a:rPr>
              <a:t>More throughput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377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</a:rPr>
              <a:t>Shorter, more repeatable tap-to-tap times.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93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</a:rPr>
              <a:t>Fewer consumables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</a:rPr>
              <a:t>Reduce electrode and refractory wear per tonne.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3593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</a:rPr>
              <a:t>Lower emissions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3977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</a:rPr>
              <a:t>Less energy and dust → lower CO₂ footprint.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3C4E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3593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</a:rPr>
              <a:t>Faster know-how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6760" y="3977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</a:rPr>
              <a:t>Train operators &amp; engineers safely on the twin.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A1E29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Illustrative: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100 t shop saving just 15 kWh/t at industrial power tariffs recovers well over its annual licence in electricity alone — before any yield or productivity gain.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Deploys the way your plant works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3566160" cy="64008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72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703"/>
                </a:solidFill>
              </a:rPr>
              <a:t>ZERO-FOOTPRINT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Offline web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Single self-contained HTML — opens in any browser, no install, no internet. Ideal for the pulpit and for training.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463040"/>
            <a:ext cx="3566160" cy="64008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572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703"/>
                </a:solidFill>
              </a:rPr>
              <a:t>WINDOWS / LINUX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Desktop console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Native Python operator desk with embedded plots, schematic, guidance and sensitivity studies.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463040"/>
            <a:ext cx="3566160" cy="64008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572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703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67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836"/>
                </a:solidFill>
              </a:rPr>
              <a:t>On-prem / Level-2 link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83464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2C"/>
                </a:solidFill>
              </a:rPr>
              <a:t>Calibrated to your furnace and connected to historian / PLC data for live estimation and advice.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Packages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836"/>
                </a:solidFill>
              </a:rPr>
              <a:t>Assess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83"/>
                </a:solidFill>
              </a:rPr>
              <a:t>Pilot engagement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017520" cy="0"/>
          </a:xfrm>
          <a:prstGeom prst="line">
            <a:avLst/>
          </a:prstGeom>
          <a:noFill/>
          <a:ln w="12700">
            <a:solidFill>
              <a:srgbClr val="D6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346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Model calibrated to 2–3 of your heats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Baseline vs best-practice study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Energy/yield opportunity report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Web app (offline)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0C2836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40680" y="1234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2527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836"/>
                </a:solidFill>
              </a:rPr>
              <a:t>POPULAR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8CAE4"/>
                </a:solidFill>
              </a:rPr>
              <a:t>Operate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4D2"/>
                </a:solidFill>
              </a:rPr>
              <a:t>Annual licence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697480"/>
            <a:ext cx="3017520" cy="0"/>
          </a:xfrm>
          <a:prstGeom prst="line">
            <a:avLst/>
          </a:prstGeom>
          <a:noFill/>
          <a:ln w="12700">
            <a:solidFill>
              <a:srgbClr val="2A4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346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</a:rPr>
              <a:t>Everything in Assess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</a:rPr>
              <a:t>Desktop + web operator consoles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</a:rPr>
              <a:t>Sensitivity &amp; scenario studies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</a:rPr>
              <a:t>Quarterly re-calibration &amp; support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F0F7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836"/>
                </a:solidFill>
              </a:rPr>
              <a:t>Integrate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83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2697480"/>
            <a:ext cx="3017520" cy="0"/>
          </a:xfrm>
          <a:prstGeom prst="line">
            <a:avLst/>
          </a:prstGeom>
          <a:noFill/>
          <a:ln w="12700">
            <a:solidFill>
              <a:srgbClr val="D6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8346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Everything in Operate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Level-2 / historian data link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Live soft-sensing &amp; advice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3232C"/>
                </a:solidFill>
              </a:rPr>
              <a:t>Custom KPIs &amp; on-site training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383"/>
                </a:solidFill>
              </a:rPr>
              <a:t>Indicative packaging — final scope and pricing tailored per furnace and data availability.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</a:rPr>
              <a:t>WHY EXTRACTMET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Metallurgy-first, software-strong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6E2EA"/>
                </a:solidFill>
              </a:rPr>
              <a:t>Extractmet Private Limited is a deep-tech metallurgical solutions company specialising in pyrometallurgical process modelling, optimisation and decarbonisation.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6E2EA"/>
                </a:solidFill>
              </a:rPr>
              <a:t>SmartEAF is built by process metallurgists — the physics is real, the closures are calibratable to your furnace, and the guidance is grounded in mass and energy balances, not correlations alone.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6E2EA"/>
                </a:solidFill>
              </a:rPr>
              <a:t>We partner with plants to study their processes, quantify opportunities and deliver tools their operators actually use.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92024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03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920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Process modelling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260604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03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606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Decarbonisation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329184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03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291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Waste valorisation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397764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03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3977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Critical minerals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66344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03C4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4663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AI-assisted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Let's run your furnace on physics.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</a:rPr>
              <a:t>Start with an Assess pilot: send us 2–3 anonymised heats and we'll calibrate SmartEAF and quantify your energy, yield and productivity opportunity.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657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836"/>
                </a:solidFill>
              </a:rPr>
              <a:t>Book a 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</a:rPr>
              <a:t>Extractmet Private Limited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83"/>
                </a:solidFill>
              </a:rPr>
              <a:t>IIT Madras Research Park, Chennai  ·  www.extractmet.com  ·  contact@extractmet.com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5464"/>
                </a:solidFill>
              </a:rPr>
              <a:t>SmartEAF™ figures are for guidance; the model is calibrated to each furnace before operational use. Customer references anonymised as Industry-X.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SLAG CHEMISTRY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Slag composition in weight percent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pic>
        <p:nvPicPr>
          <p:cNvPr id="7" name="Image 0" descr="/home/claude/deck_plots/4_refractory_the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103327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32C"/>
                </a:solidFill>
              </a:rPr>
              <a:t>Composition of every slag oxide (CaO, SiO₂, FeO, MgO, MnO, P₂O₅) as weight percent over the whole heat, plus the final slag analysis — the practical read on basicity, FeO control, foaming and dephosphorisation.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8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</a:rPr>
              <a:t>REACTION KINETICS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Mechanistic reaction kinetics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0">
                <a:alpha val="50000"/>
              </a:srgbClr>
            </a:outerShdw>
          </a:effectLst>
        </p:spPr>
      </p:sp>
      <p:pic>
        <p:nvPicPr>
          <p:cNvPr id="7" name="Image 0" descr="/home/claude/deck_plots/4_refractory_the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103327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32C"/>
                </a:solidFill>
              </a:rPr>
              <a:t>Decarburisation, FeO formation/reduction, flux dissolution and melting are solved as rate laws — not fitted curves. Bath carbon and slag FeO are coupled through the Turkdogan product (%FeO)(%C)=K(T), so the FeO peak at meltdown, the dip through the carbon boil and the rise to tap all emerge from the kinetics.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SmartEAF™  ·  Extractmet Private Limited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83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Extractmet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SmartEAF — EAF Digital Twin &amp; Process Optimizer</dc:title>
  <dc:subject>PptxGenJS Presentation</dc:subject>
  <dc:creator>Extractmet Private Limited</dc:creator>
  <cp:lastModifiedBy>Extractmet Private Limited</cp:lastModifiedBy>
  <cp:revision>1</cp:revision>
  <dcterms:created xsi:type="dcterms:W3CDTF">2026-07-21T14:53:04Z</dcterms:created>
  <dcterms:modified xsi:type="dcterms:W3CDTF">2026-07-21T14:53:04Z</dcterms:modified>
</cp:coreProperties>
</file>